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 Brutos</c:v>
                </c:pt>
              </c:strCache>
            </c:strRef>
          </c:tx>
          <c:spPr>
            <a:solidFill>
              <a:srgbClr val="4D9EFF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E8E8F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
01-07</c:v>
                </c:pt>
                <c:pt idx="1">
                  <c:v>W2
08-14</c:v>
                </c:pt>
                <c:pt idx="2">
                  <c:v>W3
15-21</c:v>
                </c:pt>
                <c:pt idx="3">
                  <c:v>W4
22-30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63</c:v>
                </c:pt>
                <c:pt idx="2">
                  <c:v>132</c:v>
                </c:pt>
                <c:pt idx="3">
                  <c:v>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Leads Qualif.</c:v>
                </c:pt>
              </c:strCache>
            </c:strRef>
          </c:tx>
          <c:spPr>
            <a:solidFill>
              <a:srgbClr val="19C6B5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E8E8F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
01-07</c:v>
                </c:pt>
                <c:pt idx="1">
                  <c:v>W2
08-14</c:v>
                </c:pt>
                <c:pt idx="2">
                  <c:v>W3
15-21</c:v>
                </c:pt>
                <c:pt idx="3">
                  <c:v>W4
22-30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28</c:v>
                </c:pt>
                <c:pt idx="2">
                  <c:v>27</c:v>
                </c:pt>
                <c:pt idx="3">
                  <c:v>30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A2E"/>
            </a:solidFill>
          </a:ln>
        </c:spPr>
        <c:txPr>
          <a:bodyPr/>
          <a:lstStyle/>
          <a:p>
            <a:pPr>
              <a:defRPr sz="900">
                <a:solidFill>
                  <a:srgbClr val="8888A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A1A2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A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>
              <a:solidFill>
                <a:srgbClr val="8888A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4D9EFF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E8E8F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1699</c:v>
                </c:pt>
                <c:pt idx="1">
                  <c:v>888</c:v>
                </c:pt>
                <c:pt idx="2">
                  <c:v>749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Qualificados</c:v>
                </c:pt>
              </c:strCache>
            </c:strRef>
          </c:tx>
          <c:spPr>
            <a:solidFill>
              <a:srgbClr val="19C6B5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E8E8F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</c:v>
                </c:pt>
                <c:pt idx="1">
                  <c:v>76</c:v>
                </c:pt>
                <c:pt idx="2">
                  <c:v>112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A2E"/>
            </a:solidFill>
          </a:ln>
        </c:spPr>
        <c:txPr>
          <a:bodyPr/>
          <a:lstStyle/>
          <a:p>
            <a:pPr>
              <a:defRPr>
                <a:solidFill>
                  <a:srgbClr val="8888A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A1A2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A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solidFill>
                <a:srgbClr val="8888A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Qualif.</c:v>
                </c:pt>
              </c:strCache>
            </c:strRef>
          </c:tx>
          <c:spPr>
            <a:ln w="38100">
              <a:solidFill>
                <a:srgbClr val="19C6B5"/>
              </a:solidFill>
            </a:ln>
          </c:spPr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19C6B5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8.9</c:v>
                </c:pt>
                <c:pt idx="2">
                  <c:v>15.5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CPL Qualif. (÷10)</c:v>
                </c:pt>
              </c:strCache>
            </c:strRef>
          </c:tx>
          <c:spPr>
            <a:ln w="38100">
              <a:solidFill>
                <a:srgbClr val="FFA500"/>
              </a:solidFill>
            </a:ln>
          </c:spPr>
          <c:dLbls>
            <c:numFmt formatCode="&quot;R$&quot;0" sourceLinked="0"/>
            <c:txPr>
              <a:bodyPr/>
              <a:lstStyle/>
              <a:p>
                <a:pPr>
                  <a:defRPr sz="900">
                    <a:solidFill>
                      <a:srgbClr val="FFA5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92.1</c:v>
                </c:pt>
                <c:pt idx="1">
                  <c:v>63.6</c:v>
                </c:pt>
                <c:pt idx="2">
                  <c:v>38.1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A2E"/>
            </a:solidFill>
          </a:ln>
        </c:spPr>
        <c:txPr>
          <a:bodyPr/>
          <a:lstStyle/>
          <a:p>
            <a:pPr>
              <a:defRPr>
                <a:solidFill>
                  <a:srgbClr val="8888A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1A1A2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A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8888A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E8F0"/>
                </a:solidFill>
                <a:latin typeface="Arial"/>
              </a:defRPr>
            </a:pPr>
            <a:r>
              <a:t>Report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C6B5"/>
                </a:solidFill>
                <a:latin typeface="Arial"/>
              </a:defRPr>
            </a:pPr>
            <a:r>
              <a:t>Boost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8"/>
                </a:solidFill>
                <a:latin typeface="Arial"/>
              </a:defRPr>
            </a:pPr>
            <a:r>
              <a:t>Consultoria de Investimentos em Cripto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365760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8"/>
                </a:solidFill>
                <a:latin typeface="Arial"/>
              </a:defRPr>
            </a:pPr>
            <a:r>
              <a:t>BTC: US$ 77,273 (média W4)  •  06/mai/2026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9C6B5"/>
                </a:solidFill>
                <a:latin typeface="Arial"/>
              </a:defRPr>
            </a:pPr>
            <a:r>
              <a:t>Números do Mês — Fev / Mar / Abr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Dados: Meta Ads API (Abr) · Report Mkt &amp; Vendas (Fev/Mar) · Qualificados: CSV RD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60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IMPRESSÕES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39" y="960120"/>
            <a:ext cx="822960" cy="228600"/>
          </a:xfrm>
          <a:prstGeom prst="roundRect">
            <a:avLst/>
          </a:prstGeom>
          <a:solidFill>
            <a:srgbClr val="1E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D6A"/>
                </a:solidFill>
              </a:defRPr>
            </a:pPr>
            <a:r>
              <a:t>↓ 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9EFF"/>
                </a:solidFill>
                <a:latin typeface="Arial"/>
              </a:defRPr>
            </a:pPr>
            <a:r>
              <a:t>1,07M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79" y="1525905"/>
            <a:ext cx="182880" cy="211454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5999" y="141731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1579684"/>
            <a:ext cx="182880" cy="157675"/>
          </a:xfrm>
          <a:prstGeom prst="round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1,44M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2,18M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264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264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D9EFF"/>
                </a:solidFill>
                <a:latin typeface="Arial"/>
              </a:defRPr>
            </a:pPr>
            <a:r>
              <a:t>1,07M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86868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960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CLIQUES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960120"/>
            <a:ext cx="822960" cy="228600"/>
          </a:xfrm>
          <a:prstGeom prst="roundRect">
            <a:avLst/>
          </a:prstGeom>
          <a:solidFill>
            <a:srgbClr val="1E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D6A"/>
                </a:solidFill>
              </a:defRPr>
            </a:pPr>
            <a:r>
              <a:t>↓ 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9EFF"/>
                </a:solidFill>
                <a:latin typeface="Arial"/>
              </a:defRPr>
            </a:pPr>
            <a:r>
              <a:t>25.027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580793"/>
            <a:ext cx="182880" cy="156566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0" y="141731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1545489"/>
            <a:ext cx="182880" cy="191870"/>
          </a:xfrm>
          <a:prstGeom prst="round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91840" y="205740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20.477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528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528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41.712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872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72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D9EFF"/>
                </a:solidFill>
                <a:latin typeface="Arial"/>
              </a:defRPr>
            </a:pPr>
            <a:r>
              <a:t>25.027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86868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960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CTR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960120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↑ +0,41pp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2,32%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1602170"/>
            <a:ext cx="182880" cy="135189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1473878"/>
            <a:ext cx="182880" cy="263481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0" y="1417319"/>
            <a:ext cx="182880" cy="32004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205740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0,98%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136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136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1,91%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24799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4799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C6B5"/>
                </a:solidFill>
                <a:latin typeface="Arial"/>
              </a:defRPr>
            </a:pPr>
            <a:r>
              <a:t>2,32%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86868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960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CPC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27080" y="960120"/>
            <a:ext cx="822960" cy="228600"/>
          </a:xfrm>
          <a:prstGeom prst="roundRect">
            <a:avLst/>
          </a:prstGeom>
          <a:solidFill>
            <a:srgbClr val="1E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D6A"/>
                </a:solidFill>
              </a:defRPr>
            </a:pPr>
            <a:r>
              <a:t>↑ +47%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Arial"/>
              </a:defRPr>
            </a:pPr>
            <a:r>
              <a:t>R$ 1,71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0" y="141731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064240" y="1617988"/>
            <a:ext cx="182880" cy="119371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338560" y="1561389"/>
            <a:ext cx="182880" cy="17597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144000" y="205740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R$ 3,11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9744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9744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R$ 1,16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50880" y="210312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0880" y="224028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Arial"/>
              </a:defRPr>
            </a:pPr>
            <a:r>
              <a:t>R$ 1,71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288036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2971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INVESTIMENTO TOTAL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48839" y="2971800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↓ 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79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Arial"/>
              </a:defRPr>
            </a:pPr>
            <a:r>
              <a:t>R$ 42,6k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1679" y="3448705"/>
            <a:ext cx="182880" cy="300334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285999" y="342899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560320" y="3459577"/>
            <a:ext cx="182880" cy="28946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65760" y="406908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R$ 44,2k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920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920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R$ 47,1k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7264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7264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  <a:latin typeface="Arial"/>
              </a:defRPr>
            </a:pPr>
            <a:r>
              <a:t>R$ 42,6k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0" y="288036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37560" y="2971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LEADS (META)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74920" y="2971800"/>
            <a:ext cx="822960" cy="228600"/>
          </a:xfrm>
          <a:prstGeom prst="roundRect">
            <a:avLst/>
          </a:prstGeom>
          <a:solidFill>
            <a:srgbClr val="1E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D6A"/>
                </a:solidFill>
              </a:defRPr>
            </a:pPr>
            <a:r>
              <a:t>↓ 12%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3756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9EFF"/>
                </a:solidFill>
                <a:latin typeface="Arial"/>
              </a:defRPr>
            </a:pPr>
            <a:r>
              <a:t>749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37760" y="342899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212080" y="3587795"/>
            <a:ext cx="182880" cy="161244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86400" y="3607951"/>
            <a:ext cx="182880" cy="141088"/>
          </a:xfrm>
          <a:prstGeom prst="round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291840" y="406908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1.699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4528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528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856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9872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9872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D9EFF"/>
                </a:solidFill>
                <a:latin typeface="Arial"/>
              </a:defRPr>
            </a:pPr>
            <a:r>
              <a:t>749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26480" y="288036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2971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CPL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01000" y="2971800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↓ 13%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Arial"/>
              </a:defRPr>
            </a:pPr>
            <a:r>
              <a:t>R$ 48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63840" y="3597748"/>
            <a:ext cx="182880" cy="151291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138160" y="3428999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412480" y="3469732"/>
            <a:ext cx="182880" cy="279307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217920" y="406908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792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7136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7136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R$ 55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24799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24799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Arial"/>
              </a:defRPr>
            </a:pPr>
            <a:r>
              <a:t>R$ 48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52560" y="288036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89720" y="2971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LEADS QUALIFICADOS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927080" y="2971800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↑ +47%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8972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789920" y="3611879"/>
            <a:ext cx="182880" cy="13716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1064240" y="3531870"/>
            <a:ext cx="182880" cy="21717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338560" y="3428999"/>
            <a:ext cx="182880" cy="32004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144000" y="4069080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0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9744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9744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850880" y="4114800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50880" y="425196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C6B5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74320" y="489204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1479" y="498347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TAXA QUALIFICAÇÃO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8839" y="4983479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↑ +6,6pp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1479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15,5%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011679" y="5702906"/>
            <a:ext cx="182880" cy="57813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2285999" y="5576955"/>
            <a:ext cx="182880" cy="183764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560320" y="5440680"/>
            <a:ext cx="182880" cy="32004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65760" y="6080759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6576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6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2,8%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1920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1920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8,9%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7264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7264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C6B5"/>
                </a:solidFill>
                <a:latin typeface="Arial"/>
              </a:defRPr>
            </a:pPr>
            <a:r>
              <a:t>15,5%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200400" y="4892040"/>
            <a:ext cx="27432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37560" y="498347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CPL QUALIFICADO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074920" y="4983479"/>
            <a:ext cx="822960" cy="228600"/>
          </a:xfrm>
          <a:prstGeom prst="roundRect">
            <a:avLst/>
          </a:prstGeom>
          <a:solidFill>
            <a:srgbClr val="0A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C6B5"/>
                </a:solidFill>
              </a:defRPr>
            </a:pPr>
            <a:r>
              <a:t>↓ 39%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37560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R$ 381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937760" y="5440680"/>
            <a:ext cx="182880" cy="32004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212080" y="5545275"/>
            <a:ext cx="182880" cy="215444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486400" y="5628325"/>
            <a:ext cx="182880" cy="132394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3291840" y="6080759"/>
            <a:ext cx="2560320" cy="914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9184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Fev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184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R$ 921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4528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4528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R$ 620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998720" y="6126479"/>
            <a:ext cx="85343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8"/>
                </a:solidFill>
                <a:latin typeface="Arial"/>
              </a:defRPr>
            </a:pPr>
            <a:r>
              <a:t>Abr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998720" y="6263640"/>
            <a:ext cx="853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C6B5"/>
                </a:solidFill>
                <a:latin typeface="Arial"/>
              </a:defRPr>
            </a:pPr>
            <a:r>
              <a:t>R$ 381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126480" y="4892040"/>
            <a:ext cx="5669280" cy="182880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09360" y="49834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Leitura rápida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09360" y="5257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▲  Qualificados 2,3× mais que fevereiro (48 → 112)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09360" y="54864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▲  CPL Qualificado caiu 59% em 2 meses (R$921 → R$381)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309360" y="57150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▲  CTR subiu de 0,98% para 2,32% — criativos com mais fit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309360" y="59436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500"/>
                </a:solidFill>
                <a:latin typeface="Arial"/>
              </a:defRPr>
            </a:pPr>
            <a:r>
              <a:t>▼  Volume caiu (menos impressões/leads) — tradeoff por qualidade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309360" y="61722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500"/>
                </a:solidFill>
                <a:latin typeface="Arial"/>
              </a:defRPr>
            </a:pPr>
            <a:r>
              <a:t>▼  CPC subiu vs março (R$1,16 → R$1,71)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Benchmarks de Mercado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8"/>
                </a:solidFill>
                <a:latin typeface="Arial"/>
              </a:defRPr>
            </a:pPr>
            <a:r>
              <a:t>Comparação com benchmarks internacionais (fontes verificadas)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29260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C6B5"/>
                </a:solidFill>
                <a:latin typeface="Arial"/>
              </a:defRPr>
            </a:pPr>
            <a:r>
              <a:t>Métricas Boost vs Referências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A8"/>
                </a:solidFill>
                <a:latin typeface="Arial"/>
              </a:defRPr>
            </a:pPr>
            <a:r>
              <a:t>CPL Bruto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865376"/>
            <a:ext cx="1028700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8980" y="1828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R$48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Finance EUA: US$27-84¹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A8"/>
                </a:solidFill>
                <a:latin typeface="Arial"/>
              </a:defRPr>
            </a:pPr>
            <a:r>
              <a:t>CPL Qualif.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459736"/>
            <a:ext cx="685800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R$322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23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Financial Svcs: US$555-761²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A8"/>
                </a:solidFill>
                <a:latin typeface="Arial"/>
              </a:defRPr>
            </a:pPr>
            <a:r>
              <a:t>CTR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3054096"/>
            <a:ext cx="1943100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3380" y="3017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2,51%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17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Finance &amp; Insurance: 0,98%¹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A8"/>
                </a:solidFill>
                <a:latin typeface="Arial"/>
              </a:defRPr>
            </a:pPr>
            <a:r>
              <a:t>Taxa Qualif.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648456"/>
            <a:ext cx="2057400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611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15,5%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11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Visitor-to-lead: 1,9%³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280160"/>
            <a:ext cx="5029200" cy="29260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Arial"/>
              </a:defRPr>
            </a:pPr>
            <a:r>
              <a:t>Fontes dos Benchmarks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¹ WordStream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0299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Facebook Ads Benchmarks (Finance &amp; Insurance, EUA)</a:t>
            </a:r>
            <a:br/>
            <a:r>
              <a:t>CPL US$27,66 · Google Ads CPL US$83,93 · CTR 0,98%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06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² FirstPageSage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80720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B2B CPL Benchmarks (citado por HubSpot)</a:t>
            </a:r>
            <a:br/>
            <a:r>
              <a:t>Financial Services: CPL orgânico US$555, pago US$761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383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³ FirstPageSage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8"/>
                </a:solidFill>
                <a:latin typeface="Arial"/>
              </a:defRPr>
            </a:pPr>
            <a:r>
              <a:t>B2B Conversion Rates</a:t>
            </a:r>
            <a:br/>
            <a:r>
              <a:t>Financial Services visitor-to-lead: 1,9% (EUA)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7315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Nota: benchmarks são de mercado norte-americano (USD). A Boost opera acima das referências em CTR (2,5× acima) e taxa de qualificação (8× acima).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Leads x Bitcoin — Semana a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05840"/>
          <a:ext cx="5943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005840"/>
            <a:ext cx="5029200" cy="34747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F0"/>
                </a:solidFill>
                <a:latin typeface="Arial"/>
              </a:defRPr>
            </a:pPr>
            <a:r>
              <a:t>Investimento por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8"/>
                </a:solidFill>
                <a:latin typeface="Arial"/>
              </a:defRPr>
            </a:pPr>
            <a:r>
              <a:t>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1855669" cy="201168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3749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Arial"/>
              </a:defRPr>
            </a:pPr>
            <a:r>
              <a:t>R$ 11.277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8"/>
                </a:solidFill>
                <a:latin typeface="Arial"/>
              </a:defRPr>
            </a:pPr>
            <a:r>
              <a:t>W2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331720"/>
            <a:ext cx="3200400" cy="201168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Arial"/>
              </a:defRPr>
            </a:pPr>
            <a:r>
              <a:t>R$ 19.449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8"/>
                </a:solidFill>
                <a:latin typeface="Arial"/>
              </a:defRPr>
            </a:pPr>
            <a:r>
              <a:t>W3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971800"/>
            <a:ext cx="919195" cy="201168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7275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R$ 5.586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66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8"/>
                </a:solidFill>
                <a:latin typeface="Arial"/>
              </a:defRPr>
            </a:pPr>
            <a:r>
              <a:t>W4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11879"/>
            <a:ext cx="1049521" cy="201168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7601" y="3566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R$ 6.378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4864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C6B5"/>
                </a:solidFill>
                <a:latin typeface="Arial"/>
              </a:defRPr>
            </a:pPr>
            <a:r>
              <a:t>Correlação BTC x Leads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BTC subiu 13,9% no mês (US$67.842 → US$77.273)</a:t>
            </a:r>
            <a:br/>
            <a:r>
              <a:t>Qualificados estáveis (~27-30/sem) independente do BTC</a:t>
            </a:r>
            <a:br/>
            <a:r>
              <a:t>Volume bruto aumenta com alta, perfil qualificado não muda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54880"/>
            <a:ext cx="5486400" cy="182880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Arial"/>
              </a:defRPr>
            </a:pPr>
            <a:r>
              <a:t>O que mudou o jogo: reestruturação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W1-W2: R$30.726 gastos → 93 leads → CPL R$330</a:t>
            </a:r>
            <a:br/>
            <a:r>
              <a:t>W3-W4: R$11.964 gastos → 256 leads → CPL R$47</a:t>
            </a:r>
            <a:br/>
            <a:r>
              <a:t>61% menos investimento gerou 175% mais leads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Campanhas de Leads — Abril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8"/>
                </a:solidFill>
                <a:latin typeface="Arial"/>
              </a:defRPr>
            </a:pPr>
            <a:r>
              <a:t>Dados: Meta Ads API (01-30/abr/2026) · Qualificados: CSV RD Station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9052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822960"/>
                <a:gridCol w="731520"/>
                <a:gridCol w="731520"/>
                <a:gridCol w="914400"/>
                <a:gridCol w="640080"/>
                <a:gridCol w="731520"/>
                <a:gridCol w="731520"/>
                <a:gridCol w="914400"/>
              </a:tblGrid>
              <a:tr h="426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Campanha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Impressões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Cliques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Invest.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Leads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CPL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% Qualif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888A8"/>
                          </a:solidFill>
                          <a:latin typeface="Arial"/>
                        </a:defRPr>
                      </a:pPr>
                      <a:r>
                        <a:t>Avaliação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IR Cripto 2026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138.086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1.721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1,25%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R$2,62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R$4.510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307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R$15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ESCALAR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C5 Andromeda V2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26.433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3.071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11,62%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R$1,56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R$4.784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R$32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4D6A"/>
                          </a:solidFill>
                          <a:latin typeface="Arial"/>
                        </a:defRPr>
                      </a:pPr>
                      <a:r>
                        <a:t>REDUZIR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C5 Andromeda V1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25.120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2.463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9,80%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R$1,71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R$4.223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R$35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4D6A"/>
                          </a:solidFill>
                          <a:latin typeface="Arial"/>
                        </a:defRPr>
                      </a:pPr>
                      <a:r>
                        <a:t>REDUZIR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Quiz Patrimônio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26.455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1.515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5,73%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R$2,31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R$3.493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R$44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A500"/>
                          </a:solidFill>
                          <a:latin typeface="Arial"/>
                        </a:defRPr>
                      </a:pPr>
                      <a:r>
                        <a:t>TESTAR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C4 CONVERSAO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126.030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1.139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0,90%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R$8,63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R$9.828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R$339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A500"/>
                          </a:solidFill>
                          <a:latin typeface="Arial"/>
                        </a:defRPr>
                      </a:pPr>
                      <a:r>
                        <a:t>REVISAR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C4 CONSIDERACAO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84.467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1.123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1,33%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R$6,30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R$7.078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R$283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A500"/>
                          </a:solidFill>
                          <a:latin typeface="Arial"/>
                        </a:defRPr>
                      </a:pPr>
                      <a:r>
                        <a:t>TESTAR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C4 CONV-FORM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28.322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1,43%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R$5,41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R$2.196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R$56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8F0"/>
                          </a:solidFill>
                          <a:latin typeface="Arial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MANTER</a:t>
                      </a:r>
                    </a:p>
                  </a:txBody>
                  <a:tcPr>
                    <a:solidFill>
                      <a:srgbClr val="0E0E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454.913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11.438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2,51%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R$3,16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R$36.113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749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R$48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9C6B5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F0"/>
                </a:solidFill>
                <a:latin typeface="Arial"/>
              </a:defRPr>
            </a:pPr>
            <a:r>
              <a:t>% Leads Qualificados por Campanha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C4 CONV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234440" cy="13716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36%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C4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943600"/>
            <a:ext cx="1062990" cy="13716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759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31%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IR Cripto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943600"/>
            <a:ext cx="1028700" cy="13716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354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C4 CONSID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943600"/>
            <a:ext cx="685800" cy="1371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Quiz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943600"/>
            <a:ext cx="171450" cy="13716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77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623560"/>
            <a:ext cx="1737360" cy="82296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5669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C5 V1+V2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5943600"/>
            <a:ext cx="68580" cy="13716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4140" y="5897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Arial"/>
              </a:defRPr>
            </a:pPr>
            <a:r>
              <a:t>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Timeline — O que mudou em Abril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36576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61872" y="1261872"/>
            <a:ext cx="256032" cy="256032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88720"/>
            <a:ext cx="1371600" cy="32004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216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D6A"/>
                </a:solidFill>
                <a:latin typeface="Arial"/>
              </a:defRPr>
            </a:pPr>
            <a:r>
              <a:t>01/abr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Início do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4475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C4 CONV R$650/dia + C5 R$1.660/dia + C4 CONSID R$110/dia</a:t>
            </a:r>
            <a:br/>
            <a:r>
              <a:t>69% do investimento ia para C5 — volume sem qualidade</a:t>
            </a:r>
          </a:p>
        </p:txBody>
      </p:sp>
      <p:sp>
        <p:nvSpPr>
          <p:cNvPr id="10" name="Oval 9"/>
          <p:cNvSpPr/>
          <p:nvPr/>
        </p:nvSpPr>
        <p:spPr>
          <a:xfrm>
            <a:off x="1261872" y="2267712"/>
            <a:ext cx="256032" cy="256032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2194560"/>
            <a:ext cx="1371600" cy="32004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221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Arial"/>
              </a:defRPr>
            </a:pPr>
            <a:r>
              <a:t>09/abr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1ª reestruturação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50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C5 tinha 0% de leads &gt;=R$100k → C5 pausada</a:t>
            </a:r>
            <a:br/>
            <a:r>
              <a:t>C4 CONSID -80% | C4 CONV +2x | Economia: R$1.098/dia</a:t>
            </a:r>
          </a:p>
        </p:txBody>
      </p:sp>
      <p:sp>
        <p:nvSpPr>
          <p:cNvPr id="15" name="Oval 14"/>
          <p:cNvSpPr/>
          <p:nvPr/>
        </p:nvSpPr>
        <p:spPr>
          <a:xfrm>
            <a:off x="1261872" y="3273552"/>
            <a:ext cx="256032" cy="256032"/>
          </a:xfrm>
          <a:prstGeom prst="ellips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200400"/>
            <a:ext cx="1371600" cy="32004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2278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C6B5"/>
                </a:solidFill>
                <a:latin typeface="Arial"/>
              </a:defRPr>
            </a:pPr>
            <a:r>
              <a:t>14/abr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Reestruturação completa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4564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C4 CONV pausada | C5 só 6 anúncios vencedores (de 66)</a:t>
            </a:r>
            <a:br/>
            <a:r>
              <a:t>IR Cripto escalada R$200/dia | Budget: R$608/dia (de R$2.400)</a:t>
            </a:r>
          </a:p>
        </p:txBody>
      </p:sp>
      <p:sp>
        <p:nvSpPr>
          <p:cNvPr id="20" name="Oval 19"/>
          <p:cNvSpPr/>
          <p:nvPr/>
        </p:nvSpPr>
        <p:spPr>
          <a:xfrm>
            <a:off x="1261872" y="4279392"/>
            <a:ext cx="256032" cy="256032"/>
          </a:xfrm>
          <a:prstGeom prst="ellips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4206240"/>
            <a:ext cx="1371600" cy="32004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2336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C6B5"/>
                </a:solidFill>
                <a:latin typeface="Arial"/>
              </a:defRPr>
            </a:pPr>
            <a:r>
              <a:t>22/abr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Resultados aparecem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622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Lead Forms V3 corrigidos | IR Cripto CPL R$7, 30% qualificação</a:t>
            </a:r>
            <a:br/>
            <a:r>
              <a:t>W3-W4: 256 leads com R$12k (vs 93 leads com R$31k)</a:t>
            </a:r>
          </a:p>
        </p:txBody>
      </p:sp>
      <p:sp>
        <p:nvSpPr>
          <p:cNvPr id="25" name="Oval 24"/>
          <p:cNvSpPr/>
          <p:nvPr/>
        </p:nvSpPr>
        <p:spPr>
          <a:xfrm>
            <a:off x="1261872" y="5285232"/>
            <a:ext cx="256032" cy="256032"/>
          </a:xfrm>
          <a:prstGeom prst="ellips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0" y="5212080"/>
            <a:ext cx="1371600" cy="32004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5239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C6B5"/>
                </a:solidFill>
                <a:latin typeface="Arial"/>
              </a:defRPr>
            </a:pPr>
            <a:r>
              <a:t>27/abr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93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Lead Forms 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6811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2 novos formulários com UTMs fixos por campanha</a:t>
            </a:r>
            <a:br/>
            <a:r>
              <a:t>Faixas claras de patrimônio | 19 anúncios atualizados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Acertos e Pontos a Melhorar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3152" cy="530352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C6B5"/>
                </a:solidFill>
                <a:latin typeface="Arial"/>
              </a:defRPr>
            </a:pPr>
            <a:r>
              <a:t>O que deu certo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Reestruturação 09+14/abr cortou 61% do investimento e triplicou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IR Cripto como campanha principal: CPL R$15, 30% qualificação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Lead Forms V4 com tracking correto e faixas claras de patrimônio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Taxa de qualificação: 8,9% → 15,5% (+6,6pp vs março)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CPL qualificado: R$492 → R$322 (-34% vs março)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Decisões baseadas em dados cruzados Meta + 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C6B5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  <a:latin typeface="Arial"/>
              </a:defRPr>
            </a:pPr>
            <a:r>
              <a:t>Investimento caiu 12% e qualificados subiram 47%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1097280"/>
            <a:ext cx="73152" cy="530352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Arial"/>
              </a:defRPr>
            </a:pPr>
            <a:r>
              <a:t>O que estamos melhorando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Qualificação ampliada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116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Investidores tradicionais &gt;=R$50 mil agora contam como qualificados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834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Bot SDR mais humanizado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5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Tom robótico é gargalo — reescrevendo fluxos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Tracking do Lead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Formulário nativo do Meta não passa ad_id. Cruzamento API pendente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Copys com filtro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Refinando copys para filtrar curiosos de baixo patrimônio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Próximos Passos — Maio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4688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97280" cy="27432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810"/>
                </a:solidFill>
              </a:defRPr>
            </a:pPr>
            <a:r>
              <a:t>MANTER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70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Arial"/>
              </a:defRPr>
            </a:pPr>
            <a:r>
              <a:t>IR Cripto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CPL R$15, 307 leads, 30% qualificação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Campanha principal de aquisição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Renovar criativos para evitar fadiga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1097280" cy="27432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810"/>
                </a:solidFill>
              </a:defRPr>
            </a:pPr>
            <a:r>
              <a:t>NOVO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170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Arial"/>
              </a:defRPr>
            </a:pPr>
            <a:r>
              <a:t>Campanhas filtro R$100k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Qualificação de R$100 mil na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Atrair leads de maior patrimônio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Reduzir curiosos e leads fora do ICP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4688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1097280" cy="27432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810"/>
                </a:solidFill>
              </a:defRPr>
            </a:pPr>
            <a:r>
              <a:t>NOVO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05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Arial"/>
              </a:defRPr>
            </a:pPr>
            <a:r>
              <a:t>Campanha de E-books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2 e-books prontos (Portfolio + Regras)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LP com campo patrimônio obrigatório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Leads entram já qualificados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486400" cy="24688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1097280" cy="27432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810"/>
                </a:solidFill>
              </a:defRPr>
            </a:pPr>
            <a:r>
              <a:t>NOVO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005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Arial"/>
              </a:defRPr>
            </a:pPr>
            <a:r>
              <a:t>YouTube 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12 roteiros prontos, 3 URLs publicadas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Complementar ao Meta (vídeo longo)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Arial"/>
              </a:defRPr>
            </a:pPr>
            <a:r>
              <a:t>→  Fase 1: R$6k/mês com 3 vídeos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LinkedIn Ads — Teste Conversation 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36576"/>
          </a:xfrm>
          <a:prstGeom prst="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8"/>
                </a:solidFill>
                <a:latin typeface="Arial"/>
              </a:defRPr>
            </a:pPr>
            <a:r>
              <a:t>Campanha "Análise de Portfólio — Decisores Financeiros" | Abril-Maio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377440" cy="15544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TOTAL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9E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94360" y="2359152"/>
            <a:ext cx="182880" cy="164592"/>
          </a:xfrm>
          <a:prstGeom prst="triangl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12 abr + 20 mai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280160"/>
            <a:ext cx="2651760" cy="15544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389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QUALIFICADOS (≥R$50K)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169163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C6B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3154679" y="2359152"/>
            <a:ext cx="182880" cy="164592"/>
          </a:xfrm>
          <a:prstGeom prst="triangl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33172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31% do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280160"/>
            <a:ext cx="2377440" cy="15544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389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INVESTE EM CRIPTO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6916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5989320" y="2359152"/>
            <a:ext cx="182880" cy="164592"/>
          </a:xfrm>
          <a:prstGeom prst="triangl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280160"/>
            <a:ext cx="2377440" cy="155448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389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A8"/>
                </a:solidFill>
                <a:latin typeface="Arial"/>
              </a:defRPr>
            </a:pPr>
            <a:r>
              <a:t>INVESTE TRADICIONAL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6916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888A8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8549640" y="2359152"/>
            <a:ext cx="182880" cy="164592"/>
          </a:xfrm>
          <a:prstGeom prst="triangle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3317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C6B5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5486400" cy="34747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9EFF"/>
                </a:solidFill>
                <a:latin typeface="Arial"/>
              </a:defRPr>
            </a:pPr>
            <a:r>
              <a:t>Distribuição por Patrimônio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Até R$ 10 mil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3749039"/>
            <a:ext cx="2286000" cy="18288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703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Arial"/>
              </a:defRPr>
            </a:pPr>
            <a:r>
              <a:t>22 (69%)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195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R$ 10-50 mil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4297679"/>
            <a:ext cx="298173" cy="18288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1333" y="42519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3 (9%)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R$ 50-200 mil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4846320"/>
            <a:ext cx="530086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3246" y="4800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5 (16%)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R$ 200-500 mil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5394959"/>
            <a:ext cx="99391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22551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1 (3%)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978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Acima R$500 mil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5943599"/>
            <a:ext cx="99391" cy="182880"/>
          </a:xfrm>
          <a:prstGeom prst="roundRect">
            <a:avLst/>
          </a:prstGeom>
          <a:solidFill>
            <a:srgbClr val="19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22551" y="5897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6B5"/>
                </a:solidFill>
                <a:latin typeface="Arial"/>
              </a:defRPr>
            </a:pPr>
            <a:r>
              <a:t>1 (3%)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108960"/>
            <a:ext cx="5486400" cy="3474720"/>
          </a:xfrm>
          <a:prstGeom prst="roundRect">
            <a:avLst/>
          </a:prstGeom>
          <a:solidFill>
            <a:srgbClr val="0E0E1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Arial"/>
              </a:defRPr>
            </a:pPr>
            <a:r>
              <a:t>Leitura e Recomendação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6B5"/>
                </a:solidFill>
                <a:latin typeface="Arial"/>
              </a:defRPr>
            </a:pPr>
            <a:r>
              <a:t>31% qualificação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657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acima do Meta (15,5%)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06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8"/>
                </a:solidFill>
                <a:latin typeface="Arial"/>
              </a:defRPr>
            </a:pPr>
            <a:r>
              <a:t>72% não investe em cripto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206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perfil tradicional buscando diversificação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754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6B5"/>
                </a:solidFill>
                <a:latin typeface="Arial"/>
              </a:defRPr>
            </a:pPr>
            <a:r>
              <a:t>Segmentação correta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C-level, diretores, VP e sócios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03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  <a:latin typeface="Arial"/>
              </a:defRPr>
            </a:pPr>
            <a:r>
              <a:t>Leads fora do ICP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perfis desatualizados no LinkedIn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852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Recomendação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852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8"/>
                </a:solidFill>
                <a:latin typeface="Arial"/>
              </a:defRPr>
            </a:pPr>
            <a:r>
              <a:t>mencionar valor da consultoria na mensagem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